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005840" cy="762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D84D"/>
                </a:solidFill>
                <a:latin typeface="Segoe UI"/>
              </a:rPr>
              <a:t>DÉFI TOGO AI LAB · DATA CHALLENGE ÉDUCATION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Système éducatif togolais :</a:t>
            </a:r>
          </a:p>
          <a:p>
            <a:pPr algn="l"/>
            <a:r>
              <a:rPr sz="4000" b="1">
                <a:solidFill>
                  <a:srgbClr val="E1A100"/>
                </a:solidFill>
                <a:latin typeface="Segoe UI"/>
              </a:rPr>
              <a:t>où investir en priorité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E3DB"/>
                </a:solidFill>
                <a:latin typeface="Segoe UI"/>
              </a:rPr>
              <a:t>Rapport d'analyse — disparités territoriales &amp; indice de vulnérabilité des infrastructures</a:t>
            </a:r>
          </a:p>
          <a:p>
            <a:pPr algn="l"/>
            <a:r>
              <a:rPr sz="1300" b="0">
                <a:solidFill>
                  <a:srgbClr val="9FC4B6"/>
                </a:solidFill>
                <a:latin typeface="Segoe UI"/>
              </a:rPr>
              <a:t>16 jeux de données ouvertes · 2013–2022 · 5 régions, 39 préfectures, 117 communes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LE CONSTAT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L'entonnoir éducatif : le collège, maillon faible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05_enton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14153"/>
            <a:ext cx="5669280" cy="33211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C2A33"/>
                </a:solidFill>
                <a:latin typeface="Segoe UI"/>
              </a:rPr>
              <a:t>▸ Sur 100 élèves entrés au primaire : </a:t>
            </a:r>
            <a:r>
              <a:rPr sz="1800" b="1">
                <a:solidFill>
                  <a:srgbClr val="006A4E"/>
                </a:solidFill>
                <a:latin typeface="Segoe UI"/>
              </a:rP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2A33"/>
                </a:solidFill>
                <a:latin typeface="Segoe UI"/>
              </a:rPr>
              <a:t>▸ 63 achèvent le collège, 27 seulement le lycée. </a:t>
            </a:r>
            <a:r>
              <a:rPr sz="1800" b="1">
                <a:solidFill>
                  <a:srgbClr val="006A4E"/>
                </a:solidFill>
                <a:latin typeface="Segoe UI"/>
              </a:rPr>
              <a:t/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2A33"/>
                </a:solidFill>
                <a:latin typeface="Segoe UI"/>
              </a:rPr>
              <a:t>▸ La déperdition la plus lourde se joue au premier cycle du secondaire.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C2A33"/>
                </a:solidFill>
                <a:latin typeface="Segoe UI"/>
              </a:rPr>
              <a:t>▸ C'est le levier d'action le plus rentable : agir au collège.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LE SYSTÈME EN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15 454 écoles, une couverture inégale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03_carte_ec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400" y="1371600"/>
            <a:ext cx="393535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Établissements géolocalisés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15 454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dont primaire 8 165 · collège 2 304 · lycée 708 </a:t>
            </a:r>
            <a:r>
              <a:rPr sz="1700" b="1">
                <a:solidFill>
                  <a:srgbClr val="006A4E"/>
                </a:solidFill>
                <a:latin typeface="Segoe UI"/>
              </a:rPr>
              <a:t/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Concentration au Sud (Maritime : </a:t>
            </a:r>
            <a:r>
              <a:rPr sz="1700" b="1">
                <a:solidFill>
                  <a:srgbClr val="006A4E"/>
                </a:solidFill>
                <a:latin typeface="Segoe UI"/>
              </a:rPr>
              <a:t>43 % des écoles)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Bâtiments scolaires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28 055 · âge moyen 17 ans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Semis beaucoup plus lâche au Nord (Kara, Savanes).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TRAJECTOIRE 2013–2022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Le primaire tient, le secondaire reste fragile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04_achie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35130"/>
            <a:ext cx="5760720" cy="32791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Achèvement primaire : </a:t>
            </a:r>
            <a:r>
              <a:rPr sz="1700" b="1">
                <a:solidFill>
                  <a:srgbClr val="006A4E"/>
                </a:solidFill>
                <a:latin typeface="Segoe UI"/>
              </a:rPr>
              <a:t>77,7 % → 88,7 %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Achèvement collège : </a:t>
            </a:r>
            <a:r>
              <a:rPr sz="1700" b="1">
                <a:solidFill>
                  <a:srgbClr val="006A4E"/>
                </a:solidFill>
                <a:latin typeface="Segoe UI"/>
              </a:rPr>
              <a:t>36,6 % → 62,7 % (+26 pts)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Achèvement lycée : </a:t>
            </a:r>
            <a:r>
              <a:rPr sz="1700" b="1">
                <a:solidFill>
                  <a:srgbClr val="006A4E"/>
                </a:solidFill>
                <a:latin typeface="Segoe UI"/>
              </a:rPr>
              <a:t>16,3 % → 27,2 % (plafonne)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Progrès réels mais croissance inégale selon le niveau.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DISPARITÉS RÉGIONALES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Résultats : les Savanes décrochent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06_carte_be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994" y="1371600"/>
            <a:ext cx="2934172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Admission au BEPC 2022 — Savanes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48,9 %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contre Kara : </a:t>
            </a:r>
            <a:r>
              <a:rPr sz="1700" b="1">
                <a:solidFill>
                  <a:srgbClr val="006A4E"/>
                </a:solidFill>
                <a:latin typeface="Segoe UI"/>
              </a:rPr>
              <a:t>80,8 % (écart de 32 points)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Score composite de vulnérabilité — Savanes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62,4 (dernière)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Priorité n°1 sur les résultats : un plan d'urgence pour les Savanes.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PARITÉ &amp; FINANCEMENT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Deux signaux d'alerte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08_pa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26" y="1554480"/>
            <a:ext cx="4749628" cy="2743200"/>
          </a:xfrm>
          <a:prstGeom prst="rect">
            <a:avLst/>
          </a:prstGeom>
        </p:spPr>
      </p:pic>
      <p:pic>
        <p:nvPicPr>
          <p:cNvPr id="8" name="Picture 7" descr="10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56" y="1554480"/>
            <a:ext cx="4994648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8056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Écart filles–garçons au BEPC : 5,9 pts en 2022 (10,6 en 2011) — convergence lente. Préscolaire féminisé à 91,8 %. </a:t>
            </a:r>
            <a:r>
              <a:rPr sz="1400" b="1">
                <a:solidFill>
                  <a:srgbClr val="006A4E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Part du budget éducation : 14,7 % en 2022 après un pic de 19,4 % (2021) — corrélée aux résultats (r = 0,51). </a:t>
            </a:r>
            <a:r>
              <a:rPr sz="1400" b="1">
                <a:solidFill>
                  <a:srgbClr val="006A4E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INFRASTRUCTURES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déficit criant, concentré localement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14_carte_pref_toilet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025" y="1371600"/>
            <a:ext cx="375555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7040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Toilettes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0,66 bloc par école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Bibliothèques : </a:t>
            </a:r>
            <a:r>
              <a:rPr sz="1700" b="1">
                <a:solidFill>
                  <a:srgbClr val="006A4E"/>
                </a:solidFill>
                <a:latin typeface="Segoe UI"/>
              </a:rPr>
              <a:t>11 dans tout le pays (33/39 préfectures sans)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Terrain de sport : </a:t>
            </a:r>
            <a:r>
              <a:rPr sz="1700" b="1">
                <a:solidFill>
                  <a:srgbClr val="006A4E"/>
                </a:solidFill>
                <a:latin typeface="Segoe UI"/>
              </a:rPr>
              <a:t>29 % des écoles seulement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C2A33"/>
                </a:solidFill>
                <a:latin typeface="Segoe UI"/>
              </a:rPr>
              <a:t>▸ Communes les plus démunies : Anié, Wawa, Danyi (Plateaux).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INDICE DE VULNÉRABILITÉ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Mesurer le sous-équipement, jusqu'à la commune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ce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3931919" cy="3931919"/>
          </a:xfrm>
          <a:prstGeom prst="rect">
            <a:avLst/>
          </a:prstGeom>
        </p:spPr>
      </p:pic>
      <p:pic>
        <p:nvPicPr>
          <p:cNvPr id="8" name="Picture 7" descr="carte_p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8809"/>
            <a:ext cx="3749039" cy="46490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60" y="173736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Composite de 4 dimensions par école : toilettes, bâtiments, sport, ancienneté.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Normalisé 0–100, agrégé commune → préfecture → région.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Structure validée par ACP </a:t>
            </a:r>
            <a:r>
              <a:rPr sz="1400" b="1">
                <a:solidFill>
                  <a:srgbClr val="006A4E"/>
                </a:solidFill>
                <a:latin typeface="Segoe UI"/>
              </a:rPr>
              <a:t>(64 % sur 2 axes)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C2A33"/>
                </a:solidFill>
                <a:latin typeface="Segoe UI"/>
              </a:rPr>
              <a:t>▸ Élevé = sous-équipé, prioritaire (rouge sur la carte).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L'INSIGHT CLÉ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Deux géographies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pic>
        <p:nvPicPr>
          <p:cNvPr id="7" name="Picture 6" descr="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2760"/>
            <a:ext cx="5760720" cy="3103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C2A33"/>
                </a:solidFill>
                <a:latin typeface="Segoe UI"/>
              </a:rPr>
              <a:t>▸ Où les RÉSULTATS décrochent : les Savanes (Nord).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C2A33"/>
                </a:solidFill>
                <a:latin typeface="Segoe UI"/>
              </a:rPr>
              <a:t>▸ Où les INFRASTRUCTURES manquent : Maritime et Plateaux (Sud) — grandes communes urbaines surchargées.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C2A33"/>
                </a:solidFill>
                <a:latin typeface="Segoe UI"/>
              </a:rPr>
              <a:t>▸ Les Savanes sont même parmi les MIEUX équipées par école. </a:t>
            </a:r>
            <a:r>
              <a:rPr sz="1600" b="1">
                <a:solidFill>
                  <a:srgbClr val="006A4E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3340"/>
                </a:solidFill>
                <a:latin typeface="Segoe UI"/>
              </a:rPr>
              <a:t>« Où construire » ≠ « où les résultats décrochent » : croiser les deux cartes pour cibler juste.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D84D"/>
                </a:solidFill>
                <a:latin typeface="Segoe U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Six recommandations, priorisées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8"/>
                </a:solidFill>
                <a:latin typeface="Segoe UI"/>
              </a:rPr>
              <a:t>Rapport d'analyse — Éducation Togo · Défi Togo AI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EF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Faire du collège la priorité nationale (accès + maintien)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solidFill>
            <a:srgbClr val="EF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7685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76856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Plan d'urgence pour les Savanes (résultats)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5"/>
            <a:ext cx="457200" cy="4572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35223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35223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Sanctuariser le budget éducation à ≥ 15 %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75303"/>
            <a:ext cx="457200" cy="4572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93591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93591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Fermer l'écart filles–garçons au BEPC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33671"/>
            <a:ext cx="457200" cy="45720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59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59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Programme WASH ciblé via l'indice de vulnérabilité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39"/>
            <a:ext cx="457200" cy="457200"/>
          </a:xfrm>
          <a:prstGeom prst="rect">
            <a:avLst/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10327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10327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A33"/>
                </a:solidFill>
                <a:latin typeface="Segoe UI"/>
              </a:rPr>
              <a:t>Publier des données à jour (séries interrompues)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6A4E"/>
                </a:solidFill>
                <a:latin typeface="Segoe UI"/>
              </a:rPr>
              <a:t>Agir au collège et cibler les Savanes (résultats) ; via l'indice, prioriser les infrastructures au 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