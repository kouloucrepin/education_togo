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1005840" cy="762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D84D"/>
                </a:solidFill>
                <a:latin typeface="Segoe UI"/>
              </a:rPr>
              <a:t>DÉFI TOGO AI LAB · DATA CHALLENGE ÉDUCATION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Système éducatif togolais :</a:t>
            </a:r>
          </a:p>
          <a:p>
            <a:pPr algn="l"/>
            <a:r>
              <a:rPr sz="4000" b="1">
                <a:solidFill>
                  <a:srgbClr val="E1A100"/>
                </a:solidFill>
                <a:latin typeface="Segoe UI"/>
              </a:rPr>
              <a:t>où investir en priorité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FE3DB"/>
                </a:solidFill>
                <a:latin typeface="Segoe UI"/>
              </a:rPr>
              <a:t>Rapport d'analyse — disparités territoriales &amp; indice de vulnérabilité des infrastructures</a:t>
            </a:r>
          </a:p>
          <a:p>
            <a:pPr algn="l"/>
            <a:r>
              <a:rPr sz="1300" b="0">
                <a:solidFill>
                  <a:srgbClr val="9FC4B6"/>
                </a:solidFill>
                <a:latin typeface="Segoe UI"/>
              </a:rPr>
              <a:t>16 jeux de données ouvertes · 2013–2022 · 5 régions, 39 préfectures, 117 communes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LE CONSTAT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L'entonnoir éducatif : le collège, maillon faible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05_enton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14153"/>
            <a:ext cx="5669280" cy="33211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C2A33"/>
                </a:solidFill>
                <a:latin typeface="Segoe UI"/>
              </a:rPr>
              <a:t>▸ Sur 100 élèves entrés au primaire : </a:t>
            </a:r>
            <a:r>
              <a:rPr sz="1800" b="1">
                <a:solidFill>
                  <a:srgbClr val="006A4E"/>
                </a:solidFill>
                <a:latin typeface="Segoe UI"/>
              </a:rPr>
              <a:t/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2A33"/>
                </a:solidFill>
                <a:latin typeface="Segoe UI"/>
              </a:rPr>
              <a:t>▸ 63 achèvent le collège, 27 seulement le lycée. </a:t>
            </a:r>
            <a:r>
              <a:rPr sz="1800" b="1">
                <a:solidFill>
                  <a:srgbClr val="006A4E"/>
                </a:solidFill>
                <a:latin typeface="Segoe UI"/>
              </a:rPr>
              <a:t/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2A33"/>
                </a:solidFill>
                <a:latin typeface="Segoe UI"/>
              </a:rPr>
              <a:t>▸ La déperdition la plus lourde se joue au premier cycle du secondaire.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C2A33"/>
                </a:solidFill>
                <a:latin typeface="Segoe UI"/>
              </a:rPr>
              <a:t>▸ C'est le levier d'action le plus rentable : agir au collège.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LE SYSTÈME EN CHIFFRES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15 454 écoles, une couverture inégale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03_carte_ec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400" y="1371600"/>
            <a:ext cx="3935359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73736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Établissements géolocalisés : </a:t>
            </a:r>
            <a:r>
              <a:rPr sz="1700" b="1">
                <a:solidFill>
                  <a:srgbClr val="006A4E"/>
                </a:solidFill>
                <a:latin typeface="Segoe UI"/>
              </a:rPr>
              <a:t>15 454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dont primaire 8 165 · collège 2 304 · lycée 708 </a:t>
            </a:r>
            <a:r>
              <a:rPr sz="1700" b="1">
                <a:solidFill>
                  <a:srgbClr val="006A4E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Concentration au Sud (Maritime : </a:t>
            </a:r>
            <a:r>
              <a:rPr sz="1700" b="1">
                <a:solidFill>
                  <a:srgbClr val="006A4E"/>
                </a:solidFill>
                <a:latin typeface="Segoe UI"/>
              </a:rPr>
              <a:t>43 % des écoles)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Bâtiments scolaires : </a:t>
            </a:r>
            <a:r>
              <a:rPr sz="1700" b="1">
                <a:solidFill>
                  <a:srgbClr val="006A4E"/>
                </a:solidFill>
                <a:latin typeface="Segoe UI"/>
              </a:rPr>
              <a:t>28 055 · âge moyen 17 ans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Semis beaucoup plus lâche au Nord (Kara, Savanes).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TRAJECTOIRE 2013–2022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Le primaire tient, le secondaire reste fragile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04_achie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835130"/>
            <a:ext cx="5760720" cy="32791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Achèvement primaire : </a:t>
            </a:r>
            <a:r>
              <a:rPr sz="1700" b="1">
                <a:solidFill>
                  <a:srgbClr val="006A4E"/>
                </a:solidFill>
                <a:latin typeface="Segoe UI"/>
              </a:rPr>
              <a:t>77,7 % → 88,7 %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Achèvement collège : </a:t>
            </a:r>
            <a:r>
              <a:rPr sz="1700" b="1">
                <a:solidFill>
                  <a:srgbClr val="006A4E"/>
                </a:solidFill>
                <a:latin typeface="Segoe UI"/>
              </a:rPr>
              <a:t>36,6 % → 62,7 % (+26 pts)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Achèvement lycée : </a:t>
            </a:r>
            <a:r>
              <a:rPr sz="1700" b="1">
                <a:solidFill>
                  <a:srgbClr val="006A4E"/>
                </a:solidFill>
                <a:latin typeface="Segoe UI"/>
              </a:rPr>
              <a:t>16,3 % → 27,2 % (plafonne)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Progrès réels mais croissance inégale selon le niveau.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DISPARITÉS RÉGIONALES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Résultats : les Savanes décrochent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06_carte_be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994" y="1371600"/>
            <a:ext cx="2934172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73736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Admission au BEPC 2022 — Savanes : </a:t>
            </a:r>
            <a:r>
              <a:rPr sz="1700" b="1">
                <a:solidFill>
                  <a:srgbClr val="006A4E"/>
                </a:solidFill>
                <a:latin typeface="Segoe UI"/>
              </a:rPr>
              <a:t>48,9 %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contre Kara : </a:t>
            </a:r>
            <a:r>
              <a:rPr sz="1700" b="1">
                <a:solidFill>
                  <a:srgbClr val="006A4E"/>
                </a:solidFill>
                <a:latin typeface="Segoe UI"/>
              </a:rPr>
              <a:t>80,8 % (écart de 32 points)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Score composite de vulnérabilité — Savanes : </a:t>
            </a:r>
            <a:r>
              <a:rPr sz="1700" b="1">
                <a:solidFill>
                  <a:srgbClr val="006A4E"/>
                </a:solidFill>
                <a:latin typeface="Segoe UI"/>
              </a:rPr>
              <a:t>62,4 (dernière)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C2A33"/>
                </a:solidFill>
                <a:latin typeface="Segoe UI"/>
              </a:rPr>
              <a:t>▸ Priorité n°1 sur les résultats : un plan d'urgence pour les Savanes.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PARITÉ &amp; FINANCEMENT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Deux signaux d'alerte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08_pa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026" y="1554480"/>
            <a:ext cx="4749628" cy="2743200"/>
          </a:xfrm>
          <a:prstGeom prst="rect">
            <a:avLst/>
          </a:prstGeom>
        </p:spPr>
      </p:pic>
      <p:pic>
        <p:nvPicPr>
          <p:cNvPr id="8" name="Picture 7" descr="10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56" y="1554480"/>
            <a:ext cx="4994648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480560"/>
            <a:ext cx="11338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C2A33"/>
                </a:solidFill>
                <a:latin typeface="Segoe UI"/>
              </a:rPr>
              <a:t>▸ Écart filles–garçons au BEPC : 5,9 pts en 2022 (10,6 en 2011) — convergence lente. Préscolaire féminisé à 91,8 %. </a:t>
            </a:r>
            <a:r>
              <a:rPr sz="1400" b="1">
                <a:solidFill>
                  <a:srgbClr val="006A4E"/>
                </a:solidFill>
                <a:latin typeface="Segoe UI"/>
              </a:rPr>
              <a:t/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C2A33"/>
                </a:solidFill>
                <a:latin typeface="Segoe UI"/>
              </a:rPr>
              <a:t>▸ Part du budget éducation : 14,7 % en 2022 après un pic de 19,4 % (2021) — corrélée aux résultats (r = 0,51). </a:t>
            </a:r>
            <a:r>
              <a:rPr sz="1400" b="1">
                <a:solidFill>
                  <a:srgbClr val="006A4E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INFRASTRUCTURES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déficit criant, en chiffres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14_carte_pref_toil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820" y="1417320"/>
            <a:ext cx="3908838" cy="4663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508760"/>
            <a:ext cx="1737360" cy="1234440"/>
          </a:xfrm>
          <a:prstGeom prst="roundRect">
            <a:avLst/>
          </a:prstGeom>
          <a:solidFill>
            <a:srgbClr val="F2F6F4"/>
          </a:solidFill>
          <a:ln w="19050">
            <a:solidFill>
              <a:srgbClr val="EF3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2400" b="1">
                <a:solidFill>
                  <a:srgbClr val="EF3340"/>
                </a:solidFill>
                <a:latin typeface="Segoe UI"/>
              </a:rPr>
              <a:t>0,66</a:t>
            </a:r>
          </a:p>
          <a:p>
            <a:pPr algn="ctr"/>
            <a:r>
              <a:rPr sz="1050">
                <a:solidFill>
                  <a:srgbClr val="5B6B78"/>
                </a:solidFill>
                <a:latin typeface="Segoe UI"/>
              </a:rPr>
              <a:t>toilette / école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508760"/>
            <a:ext cx="1737360" cy="1234440"/>
          </a:xfrm>
          <a:prstGeom prst="roundRect">
            <a:avLst/>
          </a:prstGeom>
          <a:solidFill>
            <a:srgbClr val="F2F6F4"/>
          </a:solidFill>
          <a:ln w="19050">
            <a:solidFill>
              <a:srgbClr val="EF3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2400" b="1">
                <a:solidFill>
                  <a:srgbClr val="EF3340"/>
                </a:solidFill>
                <a:latin typeface="Segoe UI"/>
              </a:rPr>
              <a:t>11</a:t>
            </a:r>
          </a:p>
          <a:p>
            <a:pPr algn="ctr"/>
            <a:r>
              <a:rPr sz="1050">
                <a:solidFill>
                  <a:srgbClr val="5B6B78"/>
                </a:solidFill>
                <a:latin typeface="Segoe UI"/>
              </a:rPr>
              <a:t>bibliothèques (pays)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508760"/>
            <a:ext cx="1737360" cy="1234440"/>
          </a:xfrm>
          <a:prstGeom prst="roundRect">
            <a:avLst/>
          </a:prstGeom>
          <a:solidFill>
            <a:srgbClr val="F2F6F4"/>
          </a:solidFill>
          <a:ln w="19050">
            <a:solidFill>
              <a:srgbClr val="E1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2400" b="1">
                <a:solidFill>
                  <a:srgbClr val="E1A100"/>
                </a:solidFill>
                <a:latin typeface="Segoe UI"/>
              </a:rPr>
              <a:t>29 %</a:t>
            </a:r>
          </a:p>
          <a:p>
            <a:pPr algn="ctr"/>
            <a:r>
              <a:rPr sz="1050">
                <a:solidFill>
                  <a:srgbClr val="5B6B78"/>
                </a:solidFill>
                <a:latin typeface="Segoe UI"/>
              </a:rPr>
              <a:t>écoles avec sport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508760"/>
            <a:ext cx="1737360" cy="1234440"/>
          </a:xfrm>
          <a:prstGeom prst="roundRect">
            <a:avLst/>
          </a:prstGeom>
          <a:solidFill>
            <a:srgbClr val="F2F6F4"/>
          </a:solidFill>
          <a:ln w="19050">
            <a:solidFill>
              <a:srgbClr val="E1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2400" b="1">
                <a:solidFill>
                  <a:srgbClr val="E1A100"/>
                </a:solidFill>
                <a:latin typeface="Segoe UI"/>
              </a:rPr>
              <a:t>17 ans</a:t>
            </a:r>
          </a:p>
          <a:p>
            <a:pPr algn="ctr"/>
            <a:r>
              <a:rPr sz="1050">
                <a:solidFill>
                  <a:srgbClr val="5B6B78"/>
                </a:solidFill>
                <a:latin typeface="Segoe UI"/>
              </a:rPr>
              <a:t>âge moyen bâti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7223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C2A33"/>
                </a:solidFill>
                <a:latin typeface="Segoe UI"/>
              </a:rPr>
              <a:t>▸ 33 des 39 préfectures n'ont AUCUNE bibliothèque.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C2A33"/>
                </a:solidFill>
                <a:latin typeface="Segoe UI"/>
              </a:rPr>
              <a:t>▸ La densité de toilettes varie du simple au triple selon la commune.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C2A33"/>
                </a:solidFill>
                <a:latin typeface="Segoe UI"/>
              </a:rPr>
              <a:t>▸ Seulement 3 écoles sur 10 disposent d'un terrain de sport.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C2A33"/>
                </a:solidFill>
                <a:latin typeface="Segoe UI"/>
              </a:rPr>
              <a:t>▸ Communes les plus démunies : Anié, Wawa, Danyi (Plateaux).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INDICE DE VULNÉRABILITÉ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Les 10 communes les plus prioritaires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carte_p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39" y="1188720"/>
            <a:ext cx="3981882" cy="49377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937760" y="1463040"/>
            <a:ext cx="365760" cy="365760"/>
          </a:xfrm>
          <a:prstGeom prst="ellipse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5404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46304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Golfe 1  (Golfe)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146304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F3340"/>
                </a:solidFill>
                <a:latin typeface="Segoe UI"/>
              </a:rPr>
              <a:t>83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1874520"/>
            <a:ext cx="365760" cy="365760"/>
          </a:xfrm>
          <a:prstGeom prst="ellipse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86552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87452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Wawa 1  (Wawa)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18745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F3340"/>
                </a:solidFill>
                <a:latin typeface="Segoe UI"/>
              </a:rPr>
              <a:t>82</a:t>
            </a:r>
          </a:p>
        </p:txBody>
      </p:sp>
      <p:sp>
        <p:nvSpPr>
          <p:cNvPr id="16" name="Oval 15"/>
          <p:cNvSpPr/>
          <p:nvPr/>
        </p:nvSpPr>
        <p:spPr>
          <a:xfrm>
            <a:off x="4937760" y="2286000"/>
            <a:ext cx="365760" cy="365760"/>
          </a:xfrm>
          <a:prstGeom prst="ellipse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27700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28600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Golfe 4  (Golfe)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228600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F3340"/>
                </a:solidFill>
                <a:latin typeface="Segoe UI"/>
              </a:rPr>
              <a:t>78</a:t>
            </a:r>
          </a:p>
        </p:txBody>
      </p:sp>
      <p:sp>
        <p:nvSpPr>
          <p:cNvPr id="20" name="Oval 19"/>
          <p:cNvSpPr/>
          <p:nvPr/>
        </p:nvSpPr>
        <p:spPr>
          <a:xfrm>
            <a:off x="4937760" y="2697480"/>
            <a:ext cx="365760" cy="365760"/>
          </a:xfrm>
          <a:prstGeom prst="ellipse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68848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69748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Danyi 2  (Danyi)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269748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F3340"/>
                </a:solidFill>
                <a:latin typeface="Segoe UI"/>
              </a:rPr>
              <a:t>78</a:t>
            </a:r>
          </a:p>
        </p:txBody>
      </p:sp>
      <p:sp>
        <p:nvSpPr>
          <p:cNvPr id="24" name="Oval 23"/>
          <p:cNvSpPr/>
          <p:nvPr/>
        </p:nvSpPr>
        <p:spPr>
          <a:xfrm>
            <a:off x="4937760" y="310896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309996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310896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Kloto 1  (Kloto)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310896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78</a:t>
            </a:r>
          </a:p>
        </p:txBody>
      </p:sp>
      <p:sp>
        <p:nvSpPr>
          <p:cNvPr id="28" name="Oval 27"/>
          <p:cNvSpPr/>
          <p:nvPr/>
        </p:nvSpPr>
        <p:spPr>
          <a:xfrm>
            <a:off x="4937760" y="352044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351144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52044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Golfe 2  (Golfe)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352044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73</a:t>
            </a:r>
          </a:p>
        </p:txBody>
      </p:sp>
      <p:sp>
        <p:nvSpPr>
          <p:cNvPr id="32" name="Oval 31"/>
          <p:cNvSpPr/>
          <p:nvPr/>
        </p:nvSpPr>
        <p:spPr>
          <a:xfrm>
            <a:off x="4937760" y="393192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92292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93192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Danyi 1  (Danyi)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39319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73</a:t>
            </a:r>
          </a:p>
        </p:txBody>
      </p:sp>
      <p:sp>
        <p:nvSpPr>
          <p:cNvPr id="36" name="Oval 35"/>
          <p:cNvSpPr/>
          <p:nvPr/>
        </p:nvSpPr>
        <p:spPr>
          <a:xfrm>
            <a:off x="4937760" y="434340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33440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434340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Agoè-Nyivé 1  (Agoè-Nyivé)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434340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72</a:t>
            </a:r>
          </a:p>
        </p:txBody>
      </p:sp>
      <p:sp>
        <p:nvSpPr>
          <p:cNvPr id="40" name="Oval 39"/>
          <p:cNvSpPr/>
          <p:nvPr/>
        </p:nvSpPr>
        <p:spPr>
          <a:xfrm>
            <a:off x="4937760" y="475488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474588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75488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Lacs 3  (Lacs)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475488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71</a:t>
            </a:r>
          </a:p>
        </p:txBody>
      </p:sp>
      <p:sp>
        <p:nvSpPr>
          <p:cNvPr id="44" name="Oval 43"/>
          <p:cNvSpPr/>
          <p:nvPr/>
        </p:nvSpPr>
        <p:spPr>
          <a:xfrm>
            <a:off x="4937760" y="5166360"/>
            <a:ext cx="365760" cy="365760"/>
          </a:xfrm>
          <a:prstGeom prst="ellipse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0" y="5157360"/>
            <a:ext cx="365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5166360"/>
            <a:ext cx="5394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Segoe UI"/>
              </a:rPr>
              <a:t>Agou 1  (Agou)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516636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500" b="1">
                <a:solidFill>
                  <a:srgbClr val="E1A100"/>
                </a:solidFill>
                <a:latin typeface="Segoe UI"/>
              </a:rPr>
              <a:t>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580644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78"/>
                </a:solidFill>
                <a:latin typeface="Segoe UI"/>
              </a:rPr>
              <a:t>Indice 0–100 (4 dimensions/école, validé par ACP) — élevé = sous-équipé, à prioriser.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L'INSIGHT CLÉ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Deux géographies à 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pic>
        <p:nvPicPr>
          <p:cNvPr id="7" name="Picture 6" descr="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22760"/>
            <a:ext cx="5760720" cy="3103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73736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C2A33"/>
                </a:solidFill>
                <a:latin typeface="Segoe UI"/>
              </a:rPr>
              <a:t>▸ Où les RÉSULTATS décrochent : les Savanes (Nord).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C2A33"/>
                </a:solidFill>
                <a:latin typeface="Segoe UI"/>
              </a:rPr>
              <a:t>▸ Où les INFRASTRUCTURES manquent : Maritime et Plateaux (Sud) — grandes communes urbaines surchargées.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C2A33"/>
                </a:solidFill>
                <a:latin typeface="Segoe UI"/>
              </a:rPr>
              <a:t>▸ Les Savanes sont même parmi les MIEUX équipées par école. </a:t>
            </a:r>
            <a:r>
              <a:rPr sz="1600" b="1">
                <a:solidFill>
                  <a:srgbClr val="006A4E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206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F3340"/>
                </a:solidFill>
                <a:latin typeface="Segoe UI"/>
              </a:rPr>
              <a:t>« Où construire » ≠ « où les résultats décrochent » : croiser les deux cartes pour cibler juste.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D84D"/>
                </a:solidFill>
                <a:latin typeface="Segoe UI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Six recommandations, priorisées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78"/>
                </a:solidFill>
                <a:latin typeface="Segoe UI"/>
              </a:rPr>
              <a:t>Rapport d'analyse — Éducation Togo · Défi Togo AI 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618488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Faire du collège la priorité nationale (accès + maintien)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solidFill>
            <a:srgbClr val="EF3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76856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276856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Plan d'urgence pour les Savanes (résultats)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5"/>
            <a:ext cx="457200" cy="4572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35223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35223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Sanctuariser le budget éducation à ≥ 15 %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75303"/>
            <a:ext cx="457200" cy="457200"/>
          </a:xfrm>
          <a:prstGeom prst="rect">
            <a:avLst/>
          </a:prstGeom>
          <a:solidFill>
            <a:srgbClr val="E1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93591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593591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Fermer l'écart filles–garçons au BEPC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33671"/>
            <a:ext cx="457200" cy="45720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51959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251959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Programme WASH ciblé via l'indice de vulnérabilité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39"/>
            <a:ext cx="457200" cy="457200"/>
          </a:xfrm>
          <a:prstGeom prst="rect">
            <a:avLst/>
          </a:prstGeom>
          <a:solidFill>
            <a:srgbClr val="006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10327"/>
            <a:ext cx="457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10327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C2A33"/>
                </a:solidFill>
                <a:latin typeface="Segoe UI"/>
              </a:rPr>
              <a:t>Publier des données à jour (séries interrompues)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6A4E"/>
                </a:solidFill>
                <a:latin typeface="Segoe UI"/>
              </a:rPr>
              <a:t>Agir au collège et cibler les Savanes (résultats) ; via l'indice, prioriser les infrastructures au Sud.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